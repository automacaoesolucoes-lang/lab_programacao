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7" r:id="rId11"/>
    <p:sldId id="278" r:id="rId12"/>
    <p:sldId id="269" r:id="rId13"/>
    <p:sldId id="270" r:id="rId14"/>
    <p:sldId id="271" r:id="rId15"/>
    <p:sldId id="272" r:id="rId16"/>
    <p:sldId id="273" r:id="rId17"/>
    <p:sldId id="274" r:id="rId18"/>
    <p:sldId id="26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858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B6CB2F4-D595-9488-66EF-7A29F5A7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30F67AD-FD68-ECC7-A251-15368115A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A94E4E3-4102-9322-7370-5B78882FD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062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99D337A-171E-F884-56FD-8B2CCED2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98A5C43-5E27-DA1E-E06F-FA7F3C1A7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5E88955-77BF-1D1F-6714-EBE991B13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157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CC853CE-B3DB-EF9B-D0EA-D38BF737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F2359CE-C2DD-C78B-A50D-3306C9981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CD4A62D-B5B9-1FA2-B5A8-7AA5E18E8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0010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5830E55-6FF2-222C-7684-B41898D9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0880053-0256-A4A6-DC8E-365B6D701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BD30AB9-0DDC-2B3E-E4CD-E17C50E59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380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D36E61-1308-6A1C-0D9D-60384C6C9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44AEB03-7A91-4049-6C9C-3548223C3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18E3BDA-78E1-6F7B-6350-4AB8AAFB6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429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4AA2BF6-14E2-41DA-58DE-60F54533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16CA31C-A525-9DA7-BFB6-2C4A46C6A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798334D-7164-65C1-5A08-59FC1E915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361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83CA0CF-9B0E-24CA-C937-0FBF1C87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C15637A-88A2-A214-5E68-81B891C14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880EEC8-9F58-B8EF-E026-2CB6B3A29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319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61F2815-A3BB-5703-CA4E-D19EFEAE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37C5B2A-FB16-1638-0656-D596F8CE7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CBA9245-81F8-1ED5-6CD0-191441688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IndexError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list assignment index out of range</a:t>
            </a:r>
            <a:b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IndexError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o índice de atribuição da lista está fora do intervalo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21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7ADA53-8205-1087-AC6E-8BC552F4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48316C0-88AE-2CC1-8BA5-5361FBEFE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5D17729-A535-E49F-406B-195C264FC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358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ABE6A13-F234-62E0-6F15-A4758237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0E1ACF2-678E-AB47-AE9E-DF4936D02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6BF99CC-259C-966C-8AA7-B0C1D46FB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952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A5F95DE-1578-AFE4-8091-C08EFC0D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3AB7DF4-5F20-1F68-8409-08EE01546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C2AB9CC-5DE9-D5BA-A3C9-AAD3278F7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36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23E1EF4-BF88-EE7C-38B1-F76D5C6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BC7B181-378A-E15D-B6C0-87C1ABBE9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83DDD1F-9B1F-C1DD-3D97-688ABBD4F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528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9422C7D-689C-9F7B-4470-25558E6B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913EBA8-B42F-65D6-2B4E-277D19840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28A502C-2B90-AAB6-14F7-2A52D5B8A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96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6227DE4-19B8-4F0D-5335-AFCC581E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3C219C4-A859-2D67-78D1-2E80AF6CE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389E7A8-E80E-5DB2-1604-6C2C08672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58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822605A-9D32-10A4-AD38-98A2E60F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78BC1C7-24DE-CE47-BFE9-B71564B9B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B21F710-586D-8824-8EAF-6F6784F94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366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Vetores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Motivacional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auxiliar a escrever “Parabéns!” nas melhores provas de uma disciplina com 3 alunos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Ler os nomes e as notas de 3 alunos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Calcular a média da turma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Listar os alunos que tiveram nota acima da média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BD16625-E02C-DF08-A239-BA1CA787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1506173-7FCF-C59B-4DCD-3237A3543B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Motivacional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5121F91-D7D1-3734-FD8F-F7A8530BC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40C277F-7593-9D33-63F0-626E7CC08F77}"/>
              </a:ext>
            </a:extLst>
          </p:cNvPr>
          <p:cNvSpPr/>
          <p:nvPr/>
        </p:nvSpPr>
        <p:spPr>
          <a:xfrm>
            <a:off x="311700" y="1158240"/>
            <a:ext cx="8520600" cy="37917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nome1 = input('Informe o nome do aluno 1: ')</a:t>
            </a:r>
          </a:p>
          <a:p>
            <a:r>
              <a:rPr lang="pt-BR" sz="1600" dirty="0"/>
              <a:t>nome2 = input('Informe o nome do aluno 2: ')</a:t>
            </a:r>
          </a:p>
          <a:p>
            <a:r>
              <a:rPr lang="pt-BR" sz="1600" dirty="0"/>
              <a:t>nome3 = input('Informe o nome do aluno 3: ')</a:t>
            </a:r>
          </a:p>
          <a:p>
            <a:r>
              <a:rPr lang="pt-BR" sz="1600" dirty="0"/>
              <a:t>nota1 = </a:t>
            </a:r>
            <a:r>
              <a:rPr lang="pt-BR" sz="1600" dirty="0" err="1"/>
              <a:t>float</a:t>
            </a:r>
            <a:r>
              <a:rPr lang="pt-BR" sz="1600" dirty="0"/>
              <a:t>(input(</a:t>
            </a:r>
            <a:r>
              <a:rPr lang="pt-BR" sz="1600" dirty="0" err="1"/>
              <a:t>f'Informe</a:t>
            </a:r>
            <a:r>
              <a:rPr lang="pt-BR" sz="1600" dirty="0"/>
              <a:t> a nota de {nome1}: '))</a:t>
            </a:r>
          </a:p>
          <a:p>
            <a:r>
              <a:rPr lang="pt-BR" sz="1600" dirty="0"/>
              <a:t>nota2 = </a:t>
            </a:r>
            <a:r>
              <a:rPr lang="pt-BR" sz="1600" dirty="0" err="1"/>
              <a:t>float</a:t>
            </a:r>
            <a:r>
              <a:rPr lang="pt-BR" sz="1600" dirty="0"/>
              <a:t>(input(</a:t>
            </a:r>
            <a:r>
              <a:rPr lang="pt-BR" sz="1600" dirty="0" err="1"/>
              <a:t>f'Informe</a:t>
            </a:r>
            <a:r>
              <a:rPr lang="pt-BR" sz="1600" dirty="0"/>
              <a:t> a nota de {nome2}: '))</a:t>
            </a:r>
          </a:p>
          <a:p>
            <a:r>
              <a:rPr lang="pt-BR" sz="1600" dirty="0"/>
              <a:t>nota3 = </a:t>
            </a:r>
            <a:r>
              <a:rPr lang="pt-BR" sz="1600" dirty="0" err="1"/>
              <a:t>float</a:t>
            </a:r>
            <a:r>
              <a:rPr lang="pt-BR" sz="1600" dirty="0"/>
              <a:t>(input(</a:t>
            </a:r>
            <a:r>
              <a:rPr lang="pt-BR" sz="1600" dirty="0" err="1"/>
              <a:t>f'Informe</a:t>
            </a:r>
            <a:r>
              <a:rPr lang="pt-BR" sz="1600" dirty="0"/>
              <a:t> a nota de {nome3}: '))</a:t>
            </a:r>
          </a:p>
          <a:p>
            <a:r>
              <a:rPr lang="it-IT" sz="1600" dirty="0"/>
              <a:t>media = (nota1 + nota2 + nota3)/3</a:t>
            </a:r>
          </a:p>
          <a:p>
            <a:r>
              <a:rPr lang="pt-BR" sz="1600" dirty="0"/>
              <a:t>print(</a:t>
            </a:r>
            <a:r>
              <a:rPr lang="pt-BR" sz="1600" dirty="0" err="1"/>
              <a:t>f'A</a:t>
            </a:r>
            <a:r>
              <a:rPr lang="pt-BR" sz="1600" dirty="0"/>
              <a:t> média da turma é {media:.2f}.')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nota1 &gt; media:</a:t>
            </a:r>
          </a:p>
          <a:p>
            <a:r>
              <a:rPr lang="pt-BR" sz="1600" dirty="0"/>
              <a:t>    print(</a:t>
            </a:r>
            <a:r>
              <a:rPr lang="pt-BR" sz="1600" dirty="0" err="1"/>
              <a:t>f'Parabéns</a:t>
            </a:r>
            <a:r>
              <a:rPr lang="pt-BR" sz="1600" dirty="0"/>
              <a:t> {nome1}!')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nota2 &gt; media:</a:t>
            </a:r>
          </a:p>
          <a:p>
            <a:r>
              <a:rPr lang="pt-BR" sz="1600" dirty="0"/>
              <a:t>    print(</a:t>
            </a:r>
            <a:r>
              <a:rPr lang="pt-BR" sz="1600" dirty="0" err="1"/>
              <a:t>f'Parabéns</a:t>
            </a:r>
            <a:r>
              <a:rPr lang="pt-BR" sz="1600" dirty="0"/>
              <a:t> {nome2}!')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nota3 &gt; media:</a:t>
            </a:r>
          </a:p>
          <a:p>
            <a:r>
              <a:rPr lang="pt-BR" sz="1600" dirty="0"/>
              <a:t>    print(</a:t>
            </a:r>
            <a:r>
              <a:rPr lang="pt-BR" sz="1600" dirty="0" err="1"/>
              <a:t>f'Parabéns</a:t>
            </a:r>
            <a:r>
              <a:rPr lang="pt-BR" sz="1600" dirty="0"/>
              <a:t> {nome3}!')</a:t>
            </a:r>
          </a:p>
        </p:txBody>
      </p:sp>
    </p:spTree>
    <p:extLst>
      <p:ext uri="{BB962C8B-B14F-4D97-AF65-F5344CB8AC3E}">
        <p14:creationId xmlns:p14="http://schemas.microsoft.com/office/powerpoint/2010/main" val="428407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EE40DF8-2966-EABB-FA54-46221843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0076E35-4FDB-7816-8057-AE6E79E4F8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 se fossem 40 alunos?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09BD6A9-569E-ECD0-9510-5E6390101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É possível definir variáveis que guardam mais de um valor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Essas variáveis são conhecidas por diferentes nomes: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</a:t>
            </a:r>
            <a:r>
              <a:rPr lang="pt-BR" dirty="0" err="1"/>
              <a:t>Arrays</a:t>
            </a:r>
            <a:r>
              <a:rPr lang="pt-BR" dirty="0"/>
              <a:t> (arranjos)</a:t>
            </a:r>
            <a:br>
              <a:rPr lang="pt-BR" dirty="0"/>
            </a:br>
            <a:r>
              <a:rPr lang="pt-BR" dirty="0"/>
              <a:t>– Variáveis compostas</a:t>
            </a:r>
            <a:br>
              <a:rPr lang="pt-BR" dirty="0"/>
            </a:br>
            <a:r>
              <a:rPr lang="pt-BR" dirty="0"/>
              <a:t>– Variáveis subscritas</a:t>
            </a:r>
            <a:br>
              <a:rPr lang="pt-BR" dirty="0"/>
            </a:br>
            <a:r>
              <a:rPr lang="pt-BR" dirty="0"/>
              <a:t>– Variáveis indexáveis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Elas podem ser unidimensionais (vetores) ou multidimensionais (matrizes)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902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7046D07-25DB-1953-79EC-09A16E73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F0FFE8F-387C-6673-8A48-527FB10C7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Vetores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F6E35AB-2F8C-EB2A-EC5D-41A5059BF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Variável composta </a:t>
            </a:r>
            <a:r>
              <a:rPr lang="pt-BR" b="1" dirty="0"/>
              <a:t>unidimensional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Contém espaço para armazenar diversos valores</a:t>
            </a:r>
            <a:br>
              <a:rPr lang="pt-BR" dirty="0"/>
            </a:br>
            <a:r>
              <a:rPr lang="pt-BR" dirty="0"/>
              <a:t>– É acessada via um índice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 ideia de vetor é comum na matemática, com o nome de variável subscrita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Exemplo: x1, x2, ..., </a:t>
            </a:r>
            <a:r>
              <a:rPr lang="pt-BR" dirty="0" err="1"/>
              <a:t>xn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 que vimos até agora são variáveis com somente um valor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Exemplo: x = 123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No caso de vetores, uma mesma variável guarda ao mesmo tempo múltiplos valores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Exemplo: x1 = 123, x2 = 456, ...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25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502CE30-73C5-9171-FADC-7F694A7D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65B9625-51ED-332A-B991-BC89DDCE4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Listas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BC3BE50-8123-13CF-113E-BDA3CF99B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Em Python, vetores são implementados por meio de listas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Colchetes delimitam o início e o fim da lista</a:t>
            </a:r>
            <a:br>
              <a:rPr lang="pt-BR" dirty="0"/>
            </a:br>
            <a:r>
              <a:rPr lang="pt-BR" dirty="0"/>
              <a:t>– Vírgula delimitam os elementos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Os elementos de uma lista podem ser de qualquer tipo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Exemplos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lista = ['A', 1, 2, 'Casa', 2.3]</a:t>
            </a:r>
            <a:br>
              <a:rPr lang="pt-BR" dirty="0"/>
            </a:br>
            <a:r>
              <a:rPr lang="pt-BR" dirty="0"/>
              <a:t>– notas = [10, 5, 6.7, 2, 7.5]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16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6294766-A734-6561-4252-01BF5637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E64C932-B47D-18A6-872C-4670A75E8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Utilização de listas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9F7B95A-B4D5-E814-02AA-5C91EA3CA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Para acessar (ler ou escrever) uma posição da lista, basta informar a posição entre colchetes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A primeira posição zero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Similar ao que vimos para </a:t>
            </a:r>
            <a:r>
              <a:rPr lang="pt-BR" dirty="0" err="1"/>
              <a:t>string</a:t>
            </a:r>
            <a:endParaRPr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3509FC3-788F-9175-7220-F5807A045F69}"/>
              </a:ext>
            </a:extLst>
          </p:cNvPr>
          <p:cNvSpPr/>
          <p:nvPr/>
        </p:nvSpPr>
        <p:spPr>
          <a:xfrm>
            <a:off x="466165" y="3290047"/>
            <a:ext cx="4329953" cy="57374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notas = [8.0, 5.5, 1.5]</a:t>
            </a:r>
          </a:p>
          <a:p>
            <a:r>
              <a:rPr lang="es-ES" dirty="0"/>
              <a:t>media = (notas[0] + notas[1] + notas[2]) / 3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050C3A7-0E23-8F27-6481-A77A965C5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28" y="2278283"/>
            <a:ext cx="3486637" cy="2200582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09D2FFA-3E3D-7491-132F-DFD8F7579545}"/>
              </a:ext>
            </a:extLst>
          </p:cNvPr>
          <p:cNvSpPr/>
          <p:nvPr/>
        </p:nvSpPr>
        <p:spPr>
          <a:xfrm>
            <a:off x="5500128" y="2278283"/>
            <a:ext cx="515190" cy="178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1A99CC0B-3F5B-562E-F41C-82A6A238F5C1}"/>
              </a:ext>
            </a:extLst>
          </p:cNvPr>
          <p:cNvSpPr/>
          <p:nvPr/>
        </p:nvSpPr>
        <p:spPr>
          <a:xfrm>
            <a:off x="4903694" y="3331405"/>
            <a:ext cx="1111624" cy="42134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95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0F3AE95-02F9-79D0-2CBF-25B35DBB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903BCBF-4A70-E376-DF4A-18EE30AB5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Utilização de listas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B2B658A-C6BD-935B-955B-238C3DAD7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Pode-se iterar por todos os seus valores usando um comando for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O comando </a:t>
            </a:r>
            <a:r>
              <a:rPr lang="pt-BR" dirty="0" err="1"/>
              <a:t>len</a:t>
            </a:r>
            <a:r>
              <a:rPr lang="pt-BR" dirty="0"/>
              <a:t> informa o tamanho da lista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Similar ao que vimos para </a:t>
            </a:r>
            <a:r>
              <a:rPr lang="pt-BR" dirty="0" err="1"/>
              <a:t>string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61A0D6-1F88-4DAD-B39F-B39617FA226D}"/>
              </a:ext>
            </a:extLst>
          </p:cNvPr>
          <p:cNvSpPr/>
          <p:nvPr/>
        </p:nvSpPr>
        <p:spPr>
          <a:xfrm>
            <a:off x="493059" y="3325906"/>
            <a:ext cx="7494494" cy="11654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/>
              <a:t>notas = [8.0, 5.5, 1.5]</a:t>
            </a:r>
          </a:p>
          <a:p>
            <a:r>
              <a:rPr lang="pt-BR" sz="1800" dirty="0"/>
              <a:t>for i in range(</a:t>
            </a:r>
            <a:r>
              <a:rPr lang="pt-BR" sz="1800" dirty="0" err="1"/>
              <a:t>len</a:t>
            </a:r>
            <a:r>
              <a:rPr lang="pt-BR" sz="1800" dirty="0"/>
              <a:t>(notas)):</a:t>
            </a:r>
          </a:p>
          <a:p>
            <a:r>
              <a:rPr lang="pt-BR" sz="1800" dirty="0"/>
              <a:t>    print(notas[i])</a:t>
            </a:r>
          </a:p>
        </p:txBody>
      </p:sp>
    </p:spTree>
    <p:extLst>
      <p:ext uri="{BB962C8B-B14F-4D97-AF65-F5344CB8AC3E}">
        <p14:creationId xmlns:p14="http://schemas.microsoft.com/office/powerpoint/2010/main" val="3953117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FB7CD05-2E57-1523-F9FF-430A015D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896C6B1-2E16-F7AD-4DA5-9794659D88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Criação de uma lista a partir de valores lidos do teclado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46D7F97-4000-B567-0202-93A8FD6EA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Armazenar as notas de 3 alunos em uma lista. A nota de cada aluno será informada pelo teclado.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E909CBC-1D03-B854-EF3B-7785676F283B}"/>
              </a:ext>
            </a:extLst>
          </p:cNvPr>
          <p:cNvSpPr/>
          <p:nvPr/>
        </p:nvSpPr>
        <p:spPr>
          <a:xfrm>
            <a:off x="457200" y="2384612"/>
            <a:ext cx="8032376" cy="11564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/>
              <a:t>notas[0] = </a:t>
            </a:r>
            <a:r>
              <a:rPr lang="pt-BR" sz="1800" dirty="0" err="1"/>
              <a:t>float</a:t>
            </a:r>
            <a:r>
              <a:rPr lang="pt-BR" sz="1800" dirty="0"/>
              <a:t>(input('Digite a nota do primeiro aluno: '))</a:t>
            </a:r>
          </a:p>
          <a:p>
            <a:r>
              <a:rPr lang="pt-BR" sz="1800" dirty="0"/>
              <a:t>notas[1] = </a:t>
            </a:r>
            <a:r>
              <a:rPr lang="pt-BR" sz="1800" dirty="0" err="1"/>
              <a:t>float</a:t>
            </a:r>
            <a:r>
              <a:rPr lang="pt-BR" sz="1800" dirty="0"/>
              <a:t>(input('Digite a nota do segundo aluno: '))</a:t>
            </a:r>
          </a:p>
          <a:p>
            <a:r>
              <a:rPr lang="pt-BR" sz="1800" dirty="0"/>
              <a:t>notas[2] = </a:t>
            </a:r>
            <a:r>
              <a:rPr lang="pt-BR" sz="1800" dirty="0" err="1"/>
              <a:t>float</a:t>
            </a:r>
            <a:r>
              <a:rPr lang="pt-BR" sz="1800" dirty="0"/>
              <a:t>(input('Digite a nota do terceiro aluno: '))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D53A28-17A2-6861-7BFD-1A845DE62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17" y="3546414"/>
            <a:ext cx="6822141" cy="115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8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E030D40-B807-79D8-7754-CA205E61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5795EFF-C888-4689-8D4C-ED1BEC66C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Criação de uma lista a partir de valores lidos do teclado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16F7F86-FD15-FF12-863D-174C7B8E7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Armazenar as notas de 3 alunos em uma lista. A nota de cada aluno será informada pelo teclado.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A100F82-F850-78C8-DDC8-BCECEDB1863B}"/>
              </a:ext>
            </a:extLst>
          </p:cNvPr>
          <p:cNvSpPr/>
          <p:nvPr/>
        </p:nvSpPr>
        <p:spPr>
          <a:xfrm>
            <a:off x="457200" y="2088776"/>
            <a:ext cx="8032376" cy="14522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/>
              <a:t>notas = []</a:t>
            </a:r>
          </a:p>
          <a:p>
            <a:r>
              <a:rPr lang="pt-BR" sz="1800" dirty="0"/>
              <a:t>notas[0] = </a:t>
            </a:r>
            <a:r>
              <a:rPr lang="pt-BR" sz="1800" dirty="0" err="1"/>
              <a:t>float</a:t>
            </a:r>
            <a:r>
              <a:rPr lang="pt-BR" sz="1800" dirty="0"/>
              <a:t>(input('Digite a nota do primeiro aluno: '))</a:t>
            </a:r>
          </a:p>
          <a:p>
            <a:r>
              <a:rPr lang="pt-BR" sz="1800" dirty="0"/>
              <a:t>notas[1] = </a:t>
            </a:r>
            <a:r>
              <a:rPr lang="pt-BR" sz="1800" dirty="0" err="1"/>
              <a:t>float</a:t>
            </a:r>
            <a:r>
              <a:rPr lang="pt-BR" sz="1800" dirty="0"/>
              <a:t>(input('Digite a nota do segundo aluno: '))</a:t>
            </a:r>
          </a:p>
          <a:p>
            <a:r>
              <a:rPr lang="pt-BR" sz="1800" dirty="0"/>
              <a:t>notas[2] = </a:t>
            </a:r>
            <a:r>
              <a:rPr lang="pt-BR" sz="1800" dirty="0" err="1"/>
              <a:t>float</a:t>
            </a:r>
            <a:r>
              <a:rPr lang="pt-BR" sz="1800" dirty="0"/>
              <a:t>(input('Digite a nota do terceiro aluno: '))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51B28A8-53C1-9207-EF68-0A356502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3541059"/>
            <a:ext cx="7261412" cy="121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8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41C1C86-0062-A806-DB55-37209397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37F84CF-5B71-AF38-A6B7-02DA070E01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Criação de uma lista a partir de valores lidos do teclado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AC6494E-A874-5CD0-B119-E518BA14B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É necessário usar o comando </a:t>
            </a:r>
            <a:r>
              <a:rPr lang="pt-BR" dirty="0" err="1"/>
              <a:t>append</a:t>
            </a:r>
            <a:r>
              <a:rPr lang="pt-BR" dirty="0"/>
              <a:t> para adicionar novos elementos na lista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48129E4-4A91-DFAE-E3B5-806B48AFD919}"/>
              </a:ext>
            </a:extLst>
          </p:cNvPr>
          <p:cNvSpPr/>
          <p:nvPr/>
        </p:nvSpPr>
        <p:spPr>
          <a:xfrm>
            <a:off x="457200" y="2088776"/>
            <a:ext cx="8032376" cy="14522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/>
              <a:t>notas = []</a:t>
            </a:r>
          </a:p>
          <a:p>
            <a:r>
              <a:rPr lang="pt-BR" sz="1800" dirty="0" err="1"/>
              <a:t>notas.append</a:t>
            </a:r>
            <a:r>
              <a:rPr lang="pt-BR" sz="1800" dirty="0"/>
              <a:t>(</a:t>
            </a:r>
            <a:r>
              <a:rPr lang="pt-BR" sz="1800" dirty="0" err="1"/>
              <a:t>float</a:t>
            </a:r>
            <a:r>
              <a:rPr lang="pt-BR" sz="1800" dirty="0"/>
              <a:t>(input('Digite a nota do primeiro aluno: ')))</a:t>
            </a:r>
          </a:p>
          <a:p>
            <a:r>
              <a:rPr lang="pt-BR" sz="1800" dirty="0" err="1"/>
              <a:t>notas.append</a:t>
            </a:r>
            <a:r>
              <a:rPr lang="pt-BR" sz="1800" dirty="0"/>
              <a:t>(</a:t>
            </a:r>
            <a:r>
              <a:rPr lang="pt-BR" sz="1800" dirty="0" err="1"/>
              <a:t>float</a:t>
            </a:r>
            <a:r>
              <a:rPr lang="pt-BR" sz="1800" dirty="0"/>
              <a:t>(input('Digite a nota do segundo aluno: ')))</a:t>
            </a:r>
          </a:p>
          <a:p>
            <a:r>
              <a:rPr lang="pt-BR" sz="1800" dirty="0" err="1"/>
              <a:t>notas.append</a:t>
            </a:r>
            <a:r>
              <a:rPr lang="pt-BR" sz="1800" dirty="0"/>
              <a:t>(</a:t>
            </a:r>
            <a:r>
              <a:rPr lang="pt-BR" sz="1800" dirty="0" err="1"/>
              <a:t>float</a:t>
            </a:r>
            <a:r>
              <a:rPr lang="pt-BR" sz="1800" dirty="0"/>
              <a:t>(input('Digite a nota do terceiro aluno: ')))</a:t>
            </a:r>
          </a:p>
        </p:txBody>
      </p:sp>
    </p:spTree>
    <p:extLst>
      <p:ext uri="{BB962C8B-B14F-4D97-AF65-F5344CB8AC3E}">
        <p14:creationId xmlns:p14="http://schemas.microsoft.com/office/powerpoint/2010/main" val="8606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8F6F313-D731-9B45-6E88-8E50CB19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A90598B-E6B6-687D-4CDC-629E26A9A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A3B3D3C-AC22-BC2D-5554-EB7DDC23C2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notas = []</a:t>
            </a:r>
            <a:br>
              <a:rPr lang="fr-FR" dirty="0"/>
            </a:br>
            <a:r>
              <a:rPr lang="fr-FR" dirty="0"/>
              <a:t>print(notas) 	 []</a:t>
            </a:r>
            <a:br>
              <a:rPr lang="fr-FR" dirty="0"/>
            </a:br>
            <a:r>
              <a:rPr lang="fr-FR" dirty="0"/>
              <a:t>notas.append(8)</a:t>
            </a:r>
            <a:br>
              <a:rPr lang="fr-FR" dirty="0"/>
            </a:br>
            <a:r>
              <a:rPr lang="fr-FR" dirty="0"/>
              <a:t>print(notas)  	[8]</a:t>
            </a:r>
            <a:br>
              <a:rPr lang="fr-FR" dirty="0"/>
            </a:br>
            <a:r>
              <a:rPr lang="fr-FR" dirty="0"/>
              <a:t>notas.append(9)</a:t>
            </a:r>
            <a:br>
              <a:rPr lang="fr-FR" dirty="0"/>
            </a:br>
            <a:r>
              <a:rPr lang="fr-FR" dirty="0"/>
              <a:t>print(notas)	[8, 9]</a:t>
            </a:r>
            <a:br>
              <a:rPr lang="fr-FR" dirty="0"/>
            </a:br>
            <a:r>
              <a:rPr lang="fr-FR" dirty="0"/>
              <a:t>notas.append(6)</a:t>
            </a:r>
            <a:br>
              <a:rPr lang="fr-FR" dirty="0"/>
            </a:br>
            <a:r>
              <a:rPr lang="fr-FR" dirty="0"/>
              <a:t>print(notas)	[8, 9, 6]</a:t>
            </a:r>
            <a:br>
              <a:rPr lang="fr-FR" dirty="0"/>
            </a:br>
            <a:r>
              <a:rPr lang="fr-FR" dirty="0"/>
              <a:t>notas[1] = 10</a:t>
            </a:r>
            <a:br>
              <a:rPr lang="fr-FR" dirty="0"/>
            </a:br>
            <a:r>
              <a:rPr lang="fr-FR" dirty="0"/>
              <a:t>print(notas)	[8, 10, 6]</a:t>
            </a:r>
            <a:endParaRPr dirty="0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5293D7E1-EDC6-F9B7-81EC-61D642ADE674}"/>
              </a:ext>
            </a:extLst>
          </p:cNvPr>
          <p:cNvCxnSpPr/>
          <p:nvPr/>
        </p:nvCxnSpPr>
        <p:spPr>
          <a:xfrm>
            <a:off x="1792941" y="1685365"/>
            <a:ext cx="358588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0087B11-DC5D-6B3B-E44F-0409A15F3848}"/>
              </a:ext>
            </a:extLst>
          </p:cNvPr>
          <p:cNvCxnSpPr/>
          <p:nvPr/>
        </p:nvCxnSpPr>
        <p:spPr>
          <a:xfrm>
            <a:off x="1783976" y="2277036"/>
            <a:ext cx="358588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3752677-4A99-F71F-0A2E-ADCB8C839A69}"/>
              </a:ext>
            </a:extLst>
          </p:cNvPr>
          <p:cNvCxnSpPr/>
          <p:nvPr/>
        </p:nvCxnSpPr>
        <p:spPr>
          <a:xfrm>
            <a:off x="1757082" y="2860675"/>
            <a:ext cx="358588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483F9CC-83BD-4E6F-3D55-E0FCD09816B7}"/>
              </a:ext>
            </a:extLst>
          </p:cNvPr>
          <p:cNvCxnSpPr/>
          <p:nvPr/>
        </p:nvCxnSpPr>
        <p:spPr>
          <a:xfrm>
            <a:off x="1730188" y="3424518"/>
            <a:ext cx="358588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26EE38E-012E-B7F9-BBB0-06614A0D63AA}"/>
              </a:ext>
            </a:extLst>
          </p:cNvPr>
          <p:cNvCxnSpPr/>
          <p:nvPr/>
        </p:nvCxnSpPr>
        <p:spPr>
          <a:xfrm>
            <a:off x="1730188" y="4016189"/>
            <a:ext cx="358588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509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7D1C4D5-11A9-4AE0-351F-858CCA08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E692C94-DF61-C90D-4645-B47E6755BA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Retomando: E se fossem 40 alunos?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78CA23A-BE6D-D660-3B60-80E382D55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Criaríamos dois vetores (nomes e notas) de 40 posições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Vincularíamos a posição N do vetor de nomes à posição N do vetor de notas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2AACC7-7D4F-C73C-1513-AE5BF97A9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25" y="2643468"/>
            <a:ext cx="6452550" cy="239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8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B6141E5-9C70-77FA-C376-3CC901C7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3337A23-D4BD-74DA-FA48-C091669E0C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Retomando: E se fossem 40 alunos?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8EBE94A-F6FB-74A3-7F6B-731E7E725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926DB5-B032-1D56-D7E0-DA71766401C8}"/>
              </a:ext>
            </a:extLst>
          </p:cNvPr>
          <p:cNvSpPr/>
          <p:nvPr/>
        </p:nvSpPr>
        <p:spPr>
          <a:xfrm>
            <a:off x="311700" y="1138518"/>
            <a:ext cx="8520600" cy="3810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 err="1"/>
              <a:t>num_alunos</a:t>
            </a:r>
            <a:r>
              <a:rPr lang="pt-BR" sz="1800" dirty="0"/>
              <a:t> = 40</a:t>
            </a:r>
          </a:p>
          <a:p>
            <a:r>
              <a:rPr lang="pt-BR" sz="1800" dirty="0"/>
              <a:t>nomes = []</a:t>
            </a:r>
          </a:p>
          <a:p>
            <a:r>
              <a:rPr lang="pt-BR" sz="1800" dirty="0"/>
              <a:t>notas = []</a:t>
            </a:r>
          </a:p>
          <a:p>
            <a:r>
              <a:rPr lang="pt-BR" sz="1800" dirty="0"/>
              <a:t>media = 0</a:t>
            </a:r>
          </a:p>
          <a:p>
            <a:r>
              <a:rPr lang="pt-BR" sz="1800" dirty="0"/>
              <a:t>for i in range(</a:t>
            </a:r>
            <a:r>
              <a:rPr lang="pt-BR" sz="1800" dirty="0" err="1"/>
              <a:t>num_alunos</a:t>
            </a:r>
            <a:r>
              <a:rPr lang="pt-BR" sz="1800" dirty="0"/>
              <a:t>):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nomes.append</a:t>
            </a:r>
            <a:r>
              <a:rPr lang="pt-BR" sz="1800" dirty="0"/>
              <a:t>(input(</a:t>
            </a:r>
            <a:r>
              <a:rPr lang="pt-BR" sz="1800" dirty="0" err="1"/>
              <a:t>f'Informe</a:t>
            </a:r>
            <a:r>
              <a:rPr lang="pt-BR" sz="1800" dirty="0"/>
              <a:t> o nome do aluno {i+1}: ‘))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notas.append</a:t>
            </a:r>
            <a:r>
              <a:rPr lang="pt-BR" sz="1800" dirty="0"/>
              <a:t>(</a:t>
            </a:r>
            <a:r>
              <a:rPr lang="pt-BR" sz="1800" dirty="0" err="1"/>
              <a:t>float</a:t>
            </a:r>
            <a:r>
              <a:rPr lang="pt-BR" sz="1800" dirty="0"/>
              <a:t>(input(</a:t>
            </a:r>
            <a:r>
              <a:rPr lang="pt-BR" sz="1800" dirty="0" err="1"/>
              <a:t>f'Informe</a:t>
            </a:r>
            <a:r>
              <a:rPr lang="pt-BR" sz="1800" dirty="0"/>
              <a:t> a nota de {nomes[i]}: ')))</a:t>
            </a:r>
          </a:p>
          <a:p>
            <a:r>
              <a:rPr lang="pt-BR" sz="1800" dirty="0"/>
              <a:t>    media = media + notas[i]</a:t>
            </a:r>
          </a:p>
          <a:p>
            <a:r>
              <a:rPr lang="pt-BR" sz="1800" dirty="0"/>
              <a:t>media = media / </a:t>
            </a:r>
            <a:r>
              <a:rPr lang="pt-BR" sz="1800" dirty="0" err="1"/>
              <a:t>num_alunos</a:t>
            </a:r>
            <a:endParaRPr lang="pt-BR" sz="1800" dirty="0"/>
          </a:p>
          <a:p>
            <a:r>
              <a:rPr lang="pt-BR" sz="1800" dirty="0"/>
              <a:t>print(</a:t>
            </a:r>
            <a:r>
              <a:rPr lang="pt-BR" sz="1800" dirty="0" err="1"/>
              <a:t>f'A</a:t>
            </a:r>
            <a:r>
              <a:rPr lang="pt-BR" sz="1800" dirty="0"/>
              <a:t> média da turma é {media:.2f}.')</a:t>
            </a:r>
          </a:p>
          <a:p>
            <a:r>
              <a:rPr lang="pt-BR" sz="1800" dirty="0"/>
              <a:t>for i in range(</a:t>
            </a:r>
            <a:r>
              <a:rPr lang="pt-BR" sz="1800" dirty="0" err="1"/>
              <a:t>num_alunos</a:t>
            </a:r>
            <a:r>
              <a:rPr lang="pt-BR" sz="1800" dirty="0"/>
              <a:t>):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if</a:t>
            </a:r>
            <a:r>
              <a:rPr lang="pt-BR" sz="1800" dirty="0"/>
              <a:t> notas[i] &gt; media:</a:t>
            </a:r>
          </a:p>
          <a:p>
            <a:r>
              <a:rPr lang="pt-BR" sz="1800" dirty="0"/>
              <a:t>        print(</a:t>
            </a:r>
            <a:r>
              <a:rPr lang="pt-BR" sz="1800" dirty="0" err="1"/>
              <a:t>f'Parabéns</a:t>
            </a:r>
            <a:r>
              <a:rPr lang="pt-BR" sz="1800" dirty="0"/>
              <a:t> {nomes[i]}!')</a:t>
            </a:r>
          </a:p>
        </p:txBody>
      </p:sp>
    </p:spTree>
    <p:extLst>
      <p:ext uri="{BB962C8B-B14F-4D97-AF65-F5344CB8AC3E}">
        <p14:creationId xmlns:p14="http://schemas.microsoft.com/office/powerpoint/2010/main" val="100506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32F02C0-7228-81D9-3632-484D33E3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B8AC5E9-694D-9D7B-166E-DB9DE980F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9593AB3-8BC7-4BB5-D59E-2645BC34D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1. Faça um programa que leia dois vetores de 3 posições, que representam forças sobre um ponto no espaço 3D, e escreva a força resultante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sz="1600" dirty="0"/>
              <a:t>– Dica: força resultante é a soma dos valores das coordenadas correspondentes nos dois vetores: (x1 + x2), (y1 + y2), (z1 + z2)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2. Faça um programa que preencha por leitura um vetor de 10 posições, e conta quantos valores diferentes existem no vetor.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3. Faça um programa que preencha por leitura um vetor de 5 posições, e informe a posição em que um valor x (lido do teclado) aparece pela primeira vez no vetor. Caso o valor x não seja encontrado, o programa deve imprimir o valor -1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29710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851EF77-A714-048C-9AED-EE8C9146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27A1FE9-4073-3412-B1E4-E5C87B748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E11B639-0278-22B4-BE6B-B9868BE0D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4. Um dado é lançado 50 vezes, e o valor correspondente é armazenado em um vetor. Faça um programa que simule o lançamento do dado e determine o percentual de ocorrências de face 6 do dado dentre esses 50 lançamentos.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5. Faça um programa que leia um vetor </a:t>
            </a:r>
            <a:r>
              <a:rPr lang="pt-BR" dirty="0" err="1"/>
              <a:t>vet</a:t>
            </a:r>
            <a:r>
              <a:rPr lang="pt-BR" dirty="0"/>
              <a:t> de 20 posições. O programa deve gerar, a partir do vetor lido, um outro vetor </a:t>
            </a:r>
            <a:r>
              <a:rPr lang="pt-BR" dirty="0" err="1"/>
              <a:t>pos</a:t>
            </a:r>
            <a:r>
              <a:rPr lang="pt-BR" dirty="0"/>
              <a:t> que contenha apenas os valores inteiros positivos de vet. A partir do vetor </a:t>
            </a:r>
            <a:r>
              <a:rPr lang="pt-BR" dirty="0" err="1"/>
              <a:t>pos</a:t>
            </a:r>
            <a:r>
              <a:rPr lang="pt-BR" dirty="0"/>
              <a:t>, deve ser gerado um outro vetor </a:t>
            </a:r>
            <a:r>
              <a:rPr lang="pt-BR" dirty="0" err="1"/>
              <a:t>semdup</a:t>
            </a:r>
            <a:r>
              <a:rPr lang="pt-BR" dirty="0"/>
              <a:t> que contenha apenas uma ocorrência de cada valor de </a:t>
            </a:r>
            <a:r>
              <a:rPr lang="pt-BR" dirty="0" err="1"/>
              <a:t>pos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84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1497236-5D3A-2D6C-A0BD-9247D20AA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5B4503C-E1AA-C082-CBB8-3E79A780B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BEDD1A9-A6E5-21D9-F063-3412628DC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6. Leia um vetor de 10 posições e ordene o vetor, usando 3 algoritmos diferentes (crie um programa para cada algoritmo)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a. </a:t>
            </a:r>
            <a:r>
              <a:rPr lang="pt-BR" dirty="0" err="1"/>
              <a:t>Insertion</a:t>
            </a:r>
            <a:r>
              <a:rPr lang="pt-BR" dirty="0"/>
              <a:t> </a:t>
            </a:r>
            <a:r>
              <a:rPr lang="pt-BR" dirty="0" err="1"/>
              <a:t>Sort</a:t>
            </a:r>
            <a:br>
              <a:rPr lang="pt-BR" dirty="0"/>
            </a:br>
            <a:r>
              <a:rPr lang="pt-BR" dirty="0"/>
              <a:t>b. </a:t>
            </a:r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Sort</a:t>
            </a:r>
            <a:br>
              <a:rPr lang="pt-BR" dirty="0"/>
            </a:br>
            <a:r>
              <a:rPr lang="pt-BR" dirty="0"/>
              <a:t>c. Bubble </a:t>
            </a:r>
            <a:r>
              <a:rPr lang="pt-BR" dirty="0" err="1"/>
              <a:t>Sort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Revisite a aula 3, de Introdução à Programação, para  relembrar os algoritmos – Em cada alternativa, conte o número de comparações realizadas, e imprima o número de comparações junto com o vetor ordenado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Observe qual dos algoritmos executou a ordenação com o menor número de comparações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5647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1348</Words>
  <Application>Microsoft Office PowerPoint</Application>
  <PresentationFormat>Apresentação na tela (16:9)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Impact</vt:lpstr>
      <vt:lpstr>Simple Light</vt:lpstr>
      <vt:lpstr>Vetores</vt:lpstr>
      <vt:lpstr>Exemplo Motivacional</vt:lpstr>
      <vt:lpstr>Exemplo Motivacional</vt:lpstr>
      <vt:lpstr>E se fossem 40 alunos?</vt:lpstr>
      <vt:lpstr>Vetores</vt:lpstr>
      <vt:lpstr>Listas</vt:lpstr>
      <vt:lpstr>Utilização de listas</vt:lpstr>
      <vt:lpstr>Utilização de listas</vt:lpstr>
      <vt:lpstr>Criação de uma lista a partir de valores lidos do teclado</vt:lpstr>
      <vt:lpstr>Criação de uma lista a partir de valores lidos do teclado</vt:lpstr>
      <vt:lpstr>Criação de uma lista a partir de valores lidos do teclado</vt:lpstr>
      <vt:lpstr>Exemplo</vt:lpstr>
      <vt:lpstr>Retomando: E se fossem 40 alunos?</vt:lpstr>
      <vt:lpstr>Retomando: E se fossem 40 alunos?</vt:lpstr>
      <vt:lpstr>Exercícios</vt:lpstr>
      <vt:lpstr>Exercícios 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4</cp:revision>
  <dcterms:modified xsi:type="dcterms:W3CDTF">2026-04-16T18:18:23Z</dcterms:modified>
</cp:coreProperties>
</file>